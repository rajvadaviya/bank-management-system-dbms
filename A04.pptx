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F78B7-23F7-4104-87AA-7BEEC5586F9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0E18-B2F4-424D-8E44-EA340AE72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366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F78B7-23F7-4104-87AA-7BEEC5586F9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0E18-B2F4-424D-8E44-EA340AE72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357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F78B7-23F7-4104-87AA-7BEEC5586F9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0E18-B2F4-424D-8E44-EA340AE72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531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F78B7-23F7-4104-87AA-7BEEC5586F9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0E18-B2F4-424D-8E44-EA340AE72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566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F78B7-23F7-4104-87AA-7BEEC5586F9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0E18-B2F4-424D-8E44-EA340AE72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359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F78B7-23F7-4104-87AA-7BEEC5586F9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0E18-B2F4-424D-8E44-EA340AE72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978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F78B7-23F7-4104-87AA-7BEEC5586F9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0E18-B2F4-424D-8E44-EA340AE72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579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F78B7-23F7-4104-87AA-7BEEC5586F9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0E18-B2F4-424D-8E44-EA340AE72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032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F78B7-23F7-4104-87AA-7BEEC5586F9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0E18-B2F4-424D-8E44-EA340AE72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696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F78B7-23F7-4104-87AA-7BEEC5586F9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0E18-B2F4-424D-8E44-EA340AE72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581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F78B7-23F7-4104-87AA-7BEEC5586F9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0E18-B2F4-424D-8E44-EA340AE7278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1709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F78B7-23F7-4104-87AA-7BEEC5586F9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0E18-B2F4-424D-8E44-EA340AE72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259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F78B7-23F7-4104-87AA-7BEEC5586F9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0E18-B2F4-424D-8E44-EA340AE7278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2560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F78B7-23F7-4104-87AA-7BEEC5586F9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0E18-B2F4-424D-8E44-EA340AE72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020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F78B7-23F7-4104-87AA-7BEEC5586F9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0E18-B2F4-424D-8E44-EA340AE72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241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F78B7-23F7-4104-87AA-7BEEC5586F9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0E18-B2F4-424D-8E44-EA340AE72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520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F78B7-23F7-4104-87AA-7BEEC5586F9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2AD0E18-B2F4-424D-8E44-EA340AE72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426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1CAD6-A763-6B43-96F8-6BDC9FEFB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80" y="802298"/>
            <a:ext cx="8637072" cy="1564981"/>
          </a:xfrm>
        </p:spPr>
        <p:txBody>
          <a:bodyPr>
            <a:normAutofit/>
          </a:bodyPr>
          <a:lstStyle/>
          <a:p>
            <a:r>
              <a:rPr lang="en-US" sz="4800" dirty="0"/>
              <a:t>Bank Management System 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E4BEBB-DD51-304E-9656-88C4185AC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5860" y="3840480"/>
            <a:ext cx="8637072" cy="2489541"/>
          </a:xfrm>
        </p:spPr>
        <p:txBody>
          <a:bodyPr>
            <a:normAutofit/>
          </a:bodyPr>
          <a:lstStyle/>
          <a:p>
            <a:r>
              <a:rPr lang="en-IN" dirty="0"/>
              <a:t>Parth Ghelani   92500584053	</a:t>
            </a:r>
          </a:p>
          <a:p>
            <a:r>
              <a:rPr lang="en-IN" dirty="0"/>
              <a:t>Raj  Vadaviya    92500584046</a:t>
            </a:r>
          </a:p>
          <a:p>
            <a:r>
              <a:rPr lang="en-IN" dirty="0"/>
              <a:t>Harshit  Vora   92500584032</a:t>
            </a:r>
          </a:p>
          <a:p>
            <a:r>
              <a:rPr lang="en-IN" dirty="0"/>
              <a:t>Subject : RDBMS</a:t>
            </a:r>
          </a:p>
          <a:p>
            <a:r>
              <a:rPr lang="en-I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07602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30063-2589-ACC8-D539-D18485121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1B89C-6165-E5EA-7FB1-0691B2D86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This document provides a medium-detailed overview of the Bank Management System designed using SQL and PL/SQL.</a:t>
            </a:r>
            <a:endParaRPr lang="en-IN" dirty="0"/>
          </a:p>
          <a:p>
            <a:pPr lvl="0"/>
            <a:r>
              <a:rPr lang="en-US" dirty="0"/>
              <a:t>The system models real-world banking operations such as customer management, accounts, transactions, loans, employees, and branches.</a:t>
            </a:r>
            <a:endParaRPr lang="en-IN" dirty="0"/>
          </a:p>
          <a:p>
            <a:r>
              <a:rPr lang="en-US" dirty="0"/>
              <a:t>The aim is to demonstrate database design, SQL operations, and PL/SQL automation in a structured format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684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011ED-C5E2-9A22-87CC-1E8683386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8B548-C18B-F75E-34B0-0FEBE6973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Customer Management: Store customer details such as name, gender, DOB, phone, email, and address.</a:t>
            </a:r>
            <a:endParaRPr lang="en-IN" dirty="0"/>
          </a:p>
          <a:p>
            <a:pPr lvl="0"/>
            <a:r>
              <a:rPr lang="en-US" dirty="0"/>
              <a:t>Account Management: Manage account types, balances, and the relationship between customers and accounts.</a:t>
            </a:r>
            <a:endParaRPr lang="en-IN" dirty="0"/>
          </a:p>
          <a:p>
            <a:pPr lvl="0"/>
            <a:r>
              <a:rPr lang="en-US" dirty="0"/>
              <a:t>Transaction Processing: Record deposits, withdrawals, and transfers while maintaining accuracy.</a:t>
            </a:r>
            <a:endParaRPr lang="en-IN" dirty="0"/>
          </a:p>
          <a:p>
            <a:pPr lvl="0"/>
            <a:r>
              <a:rPr lang="en-US" dirty="0"/>
              <a:t>Employee &amp; Branch Management: Track employee roles, salaries, and associations with branches.</a:t>
            </a:r>
            <a:endParaRPr lang="en-IN" dirty="0"/>
          </a:p>
          <a:p>
            <a:pPr lvl="0"/>
            <a:r>
              <a:rPr lang="en-US" dirty="0"/>
              <a:t>Loan Management: Store details about loans including type, amount, interest, and duration.</a:t>
            </a:r>
            <a:endParaRPr lang="en-IN" dirty="0"/>
          </a:p>
          <a:p>
            <a:r>
              <a:rPr lang="en-US" dirty="0"/>
              <a:t>Automated Operations: Implement triggers to enforce business rules and maintain audit logs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9364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AB885-F531-2693-E0F9-91CDF1D4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Model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E9288-BA96-6E79-B4FB-6B635EE2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The ER model includes six major entities: Customer, Account, Transactions, Employee, Branch, and Loan.</a:t>
            </a:r>
            <a:endParaRPr lang="en-IN" dirty="0"/>
          </a:p>
          <a:p>
            <a:pPr lvl="0"/>
            <a:r>
              <a:rPr lang="en-US" dirty="0"/>
              <a:t>Customer–Account: A customer can hold multiple accounts (1:M).</a:t>
            </a:r>
            <a:endParaRPr lang="en-IN" dirty="0"/>
          </a:p>
          <a:p>
            <a:pPr lvl="0"/>
            <a:r>
              <a:rPr lang="en-US" dirty="0"/>
              <a:t>Customer–Loan: A customer can take multiple loans (1:M).</a:t>
            </a:r>
            <a:endParaRPr lang="en-IN" dirty="0"/>
          </a:p>
          <a:p>
            <a:pPr lvl="0"/>
            <a:r>
              <a:rPr lang="en-US" dirty="0"/>
              <a:t>Employee–Transaction: Each transaction is handled by one employee, but an employee may handle many (1:M).</a:t>
            </a:r>
            <a:endParaRPr lang="en-IN" dirty="0"/>
          </a:p>
          <a:p>
            <a:pPr lvl="0"/>
            <a:r>
              <a:rPr lang="en-US" dirty="0"/>
              <a:t>Employee–Branch: An employee belongs to one branch, but a branch may have multiple employees (1:</a:t>
            </a:r>
            <a:r>
              <a:rPr lang="en-US"/>
              <a:t>M).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0445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1C6A1-B1E7-13A2-58FD-CBB83A80A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Key Database Tables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50E90-63A6-7C10-AF9C-5276343B2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48465"/>
            <a:ext cx="8596668" cy="476088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Customer Table: Contains CustomerID, FirstName, LastName, Gender, DOB, Phone, Email, and Address.</a:t>
            </a:r>
            <a:endParaRPr lang="en-IN" dirty="0"/>
          </a:p>
          <a:p>
            <a:pPr lvl="0"/>
            <a:r>
              <a:rPr lang="en-US" dirty="0"/>
              <a:t>Account Table: Includes Account_No, Customer_ID, Account_Type, Balance, Opening_Date, and Branch_ID.</a:t>
            </a:r>
            <a:endParaRPr lang="en-IN" dirty="0"/>
          </a:p>
          <a:p>
            <a:pPr lvl="0"/>
            <a:r>
              <a:rPr lang="en-US" dirty="0"/>
              <a:t>Transactions Table: Includes Trans_ID, Account_No, Trans_Type, Amount, Trans_Date, and </a:t>
            </a:r>
            <a:r>
              <a:rPr lang="en-US" dirty="0" err="1"/>
              <a:t>Handled_By_Emp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Transaction Audit: </a:t>
            </a:r>
            <a:r>
              <a:rPr lang="en-US" dirty="0" err="1"/>
              <a:t>Audit_Id,Trans_Id,Account_Id,Action,Old_balance</a:t>
            </a:r>
            <a:r>
              <a:rPr lang="en-US" dirty="0"/>
              <a:t>,</a:t>
            </a:r>
          </a:p>
          <a:p>
            <a:pPr marL="0" lvl="0" indent="0">
              <a:buNone/>
            </a:pPr>
            <a:r>
              <a:rPr lang="en-US" dirty="0"/>
              <a:t>	</a:t>
            </a:r>
            <a:r>
              <a:rPr lang="en-US" dirty="0" err="1"/>
              <a:t>New_balance</a:t>
            </a:r>
            <a:endParaRPr lang="en-IN" dirty="0"/>
          </a:p>
          <a:p>
            <a:pPr lvl="0"/>
            <a:r>
              <a:rPr lang="en-US" dirty="0"/>
              <a:t>Employee Table: Emp_ID, Emp_Name, Salary, Email, Designation, and Branch_ID.</a:t>
            </a:r>
            <a:endParaRPr lang="en-IN" dirty="0"/>
          </a:p>
          <a:p>
            <a:pPr lvl="0"/>
            <a:r>
              <a:rPr lang="en-US" dirty="0"/>
              <a:t>Branch Table: Branch_ID, Branch_Name, Location, IFSC_Code, Manager_ID.</a:t>
            </a:r>
            <a:endParaRPr lang="en-IN" dirty="0"/>
          </a:p>
          <a:p>
            <a:pPr lvl="0"/>
            <a:r>
              <a:rPr lang="en-US" dirty="0"/>
              <a:t>Loan Table: Loan_ID, Customer_ID, Emp_ID, Loan_Type, Amount, Interest_Rate, Duration.</a:t>
            </a:r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6234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6136D-AA8A-7C28-6115-D0D915CA1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SQL Features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EDC2-A656-715E-4170-01E15AEAE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Queries for data retrieval using SELECT, WHERE, LIKE, BETWEEN, IN, DISTINCT, ORDER BY.</a:t>
            </a:r>
            <a:endParaRPr lang="en-IN" dirty="0"/>
          </a:p>
          <a:p>
            <a:pPr lvl="0"/>
            <a:r>
              <a:rPr lang="en-US" dirty="0"/>
              <a:t>Aggregate operations such as COUNT, SUM, AVG, RANK.</a:t>
            </a:r>
            <a:endParaRPr lang="en-IN" dirty="0"/>
          </a:p>
          <a:p>
            <a:pPr lvl="0"/>
            <a:r>
              <a:rPr lang="en-US" dirty="0"/>
              <a:t>Joins including INNER JOIN, LEFT JOIN for linking tables.</a:t>
            </a:r>
            <a:endParaRPr lang="en-IN" dirty="0"/>
          </a:p>
          <a:p>
            <a:pPr lvl="0"/>
            <a:r>
              <a:rPr lang="en-US" dirty="0"/>
              <a:t>Subqueries for nested data extraction.</a:t>
            </a:r>
            <a:endParaRPr lang="en-IN" dirty="0"/>
          </a:p>
          <a:p>
            <a:pPr lvl="0"/>
            <a:r>
              <a:rPr lang="en-US" dirty="0"/>
              <a:t>Sequences for auto-generating IDs for customers, accounts, loans, and transactions.</a:t>
            </a:r>
            <a:endParaRPr lang="en-IN" dirty="0"/>
          </a:p>
          <a:p>
            <a:r>
              <a:rPr lang="en-US" dirty="0"/>
              <a:t>Indexes for performance optimization on frequently searched columns.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3041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5B9EF-B153-BECB-B1AE-3484111C7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PL/SQL Components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6DEAA-DA25-AAC4-4396-CE52842A8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r>
              <a:rPr lang="en-US" sz="4400" b="1" dirty="0"/>
              <a:t>Deposit procedure</a:t>
            </a:r>
          </a:p>
          <a:p>
            <a:pPr marL="0" indent="0">
              <a:buNone/>
            </a:pPr>
            <a:r>
              <a:rPr lang="en-US" sz="4400" dirty="0"/>
              <a:t>SET SERVEROUTPUT ON;</a:t>
            </a:r>
          </a:p>
          <a:p>
            <a:pPr marL="0" lvl="0" indent="0">
              <a:buNone/>
            </a:pPr>
            <a:r>
              <a:rPr lang="en-US" sz="4400" dirty="0"/>
              <a:t>CREATE OR REPLACE PROCEDURE </a:t>
            </a:r>
            <a:r>
              <a:rPr lang="en-US" sz="4400" dirty="0" err="1"/>
              <a:t>deposit_amount</a:t>
            </a:r>
            <a:r>
              <a:rPr lang="en-US" sz="4400" dirty="0"/>
              <a:t>(</a:t>
            </a:r>
          </a:p>
          <a:p>
            <a:pPr marL="0" lvl="0" indent="0">
              <a:buNone/>
            </a:pPr>
            <a:r>
              <a:rPr lang="en-US" sz="4400" dirty="0"/>
              <a:t>    </a:t>
            </a:r>
            <a:r>
              <a:rPr lang="en-US" sz="4400" dirty="0" err="1"/>
              <a:t>p_account_no</a:t>
            </a:r>
            <a:r>
              <a:rPr lang="en-US" sz="4400" dirty="0"/>
              <a:t> IN NUMBER,</a:t>
            </a:r>
          </a:p>
          <a:p>
            <a:pPr marL="0" lvl="0" indent="0">
              <a:buNone/>
            </a:pPr>
            <a:r>
              <a:rPr lang="en-US" sz="4400" dirty="0"/>
              <a:t>    </a:t>
            </a:r>
            <a:r>
              <a:rPr lang="en-US" sz="4400" dirty="0" err="1"/>
              <a:t>p_amount</a:t>
            </a:r>
            <a:r>
              <a:rPr lang="en-US" sz="4400" dirty="0"/>
              <a:t>     IN NUMBER) </a:t>
            </a:r>
          </a:p>
          <a:p>
            <a:pPr marL="0" lvl="0" indent="0">
              <a:buNone/>
            </a:pPr>
            <a:r>
              <a:rPr lang="en-US" sz="4400" dirty="0"/>
              <a:t>AS</a:t>
            </a:r>
          </a:p>
          <a:p>
            <a:pPr marL="0" lvl="0" indent="0">
              <a:buNone/>
            </a:pPr>
            <a:r>
              <a:rPr lang="en-US" sz="4400" dirty="0"/>
              <a:t>BEGIN</a:t>
            </a:r>
          </a:p>
          <a:p>
            <a:pPr marL="0" lvl="0" indent="0">
              <a:buNone/>
            </a:pPr>
            <a:r>
              <a:rPr lang="en-US" sz="4400" dirty="0"/>
              <a:t>    UPDATE Account</a:t>
            </a:r>
          </a:p>
          <a:p>
            <a:pPr marL="0" lvl="0" indent="0">
              <a:buNone/>
            </a:pPr>
            <a:r>
              <a:rPr lang="en-US" sz="4400" dirty="0"/>
              <a:t>    SET Balance = Balance + </a:t>
            </a:r>
            <a:r>
              <a:rPr lang="en-US" sz="4400" dirty="0" err="1"/>
              <a:t>p_amount</a:t>
            </a:r>
            <a:endParaRPr lang="en-US" sz="4400" dirty="0"/>
          </a:p>
          <a:p>
            <a:pPr marL="0" lvl="0" indent="0">
              <a:buNone/>
            </a:pPr>
            <a:r>
              <a:rPr lang="en-US" sz="4400" dirty="0"/>
              <a:t>    WHERE </a:t>
            </a:r>
            <a:r>
              <a:rPr lang="en-US" sz="4400" dirty="0" err="1"/>
              <a:t>Account_No</a:t>
            </a:r>
            <a:r>
              <a:rPr lang="en-US" sz="4400" dirty="0"/>
              <a:t> = </a:t>
            </a:r>
            <a:r>
              <a:rPr lang="en-US" sz="4400" dirty="0" err="1"/>
              <a:t>p_account_no</a:t>
            </a:r>
            <a:r>
              <a:rPr lang="en-US" sz="4400" dirty="0"/>
              <a:t>;</a:t>
            </a:r>
          </a:p>
          <a:p>
            <a:pPr marL="0" lvl="0" indent="0">
              <a:buNone/>
            </a:pPr>
            <a:endParaRPr lang="en-US" sz="4400" dirty="0"/>
          </a:p>
          <a:p>
            <a:pPr marL="0" lvl="0" indent="0">
              <a:buNone/>
            </a:pPr>
            <a:r>
              <a:rPr lang="en-US" sz="4400" dirty="0"/>
              <a:t>    DBMS_OUTPUT.PUT_LINE('Amount ' || </a:t>
            </a:r>
            <a:r>
              <a:rPr lang="en-US" sz="4400" dirty="0" err="1"/>
              <a:t>p_amount</a:t>
            </a:r>
            <a:r>
              <a:rPr lang="en-US" sz="4400" dirty="0"/>
              <a:t> || ' deposited to Account ' || </a:t>
            </a:r>
            <a:r>
              <a:rPr lang="en-US" sz="4400" dirty="0" err="1"/>
              <a:t>p_account_no</a:t>
            </a:r>
            <a:r>
              <a:rPr lang="en-US" sz="4400" dirty="0"/>
              <a:t>);</a:t>
            </a:r>
          </a:p>
          <a:p>
            <a:pPr marL="0" lvl="0" indent="0">
              <a:buNone/>
            </a:pPr>
            <a:r>
              <a:rPr lang="en-US" sz="4400" dirty="0"/>
              <a:t>END;</a:t>
            </a:r>
          </a:p>
          <a:p>
            <a:pPr marL="0" lvl="0" indent="0">
              <a:buNone/>
            </a:pPr>
            <a:r>
              <a:rPr lang="en-US" sz="4400" dirty="0"/>
              <a:t>/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226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443B-E1B0-4487-4CBF-984DB5A0A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179" y="415532"/>
            <a:ext cx="9603275" cy="3450613"/>
          </a:xfrm>
        </p:spPr>
        <p:txBody>
          <a:bodyPr>
            <a:noAutofit/>
          </a:bodyPr>
          <a:lstStyle/>
          <a:p>
            <a:r>
              <a:rPr lang="en-US" sz="1200" b="1" dirty="0"/>
              <a:t>Withdraw procedure 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SET SERVEROUTPUT ON;</a:t>
            </a:r>
          </a:p>
          <a:p>
            <a:pPr marL="0" indent="0">
              <a:buNone/>
            </a:pPr>
            <a:r>
              <a:rPr lang="en-US" sz="1200" dirty="0"/>
              <a:t>CREATE OR REPLACE PROCEDURE </a:t>
            </a:r>
            <a:r>
              <a:rPr lang="en-US" sz="1200" dirty="0" err="1"/>
              <a:t>withdraw_amount</a:t>
            </a:r>
            <a:r>
              <a:rPr lang="en-US" sz="1200" dirty="0"/>
              <a:t>(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p_account_no</a:t>
            </a:r>
            <a:r>
              <a:rPr lang="en-US" sz="1200" dirty="0"/>
              <a:t> IN NUMBER,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p_amount</a:t>
            </a:r>
            <a:r>
              <a:rPr lang="en-US" sz="1200" dirty="0"/>
              <a:t>     IN NUMBER</a:t>
            </a:r>
          </a:p>
          <a:p>
            <a:pPr marL="0" indent="0">
              <a:buNone/>
            </a:pPr>
            <a:r>
              <a:rPr lang="en-US" sz="1200" dirty="0"/>
              <a:t>) AS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v_balance</a:t>
            </a:r>
            <a:r>
              <a:rPr lang="en-US" sz="1200" dirty="0"/>
              <a:t> NUMBER;</a:t>
            </a:r>
          </a:p>
          <a:p>
            <a:pPr marL="0" indent="0">
              <a:buNone/>
            </a:pPr>
            <a:r>
              <a:rPr lang="en-US" sz="1200" dirty="0"/>
              <a:t>BEGIN</a:t>
            </a:r>
          </a:p>
          <a:p>
            <a:pPr marL="0" indent="0">
              <a:buNone/>
            </a:pPr>
            <a:r>
              <a:rPr lang="en-US" sz="1200" dirty="0"/>
              <a:t>    SELECT Balance INTO </a:t>
            </a:r>
            <a:r>
              <a:rPr lang="en-US" sz="1200" dirty="0" err="1"/>
              <a:t>v_balance</a:t>
            </a:r>
            <a:r>
              <a:rPr lang="en-US" sz="1200" dirty="0"/>
              <a:t> FROM Account WHERE </a:t>
            </a:r>
            <a:r>
              <a:rPr lang="en-US" sz="1200" dirty="0" err="1"/>
              <a:t>Account_No</a:t>
            </a:r>
            <a:r>
              <a:rPr lang="en-US" sz="1200" dirty="0"/>
              <a:t> = </a:t>
            </a:r>
            <a:r>
              <a:rPr lang="en-US" sz="1200" dirty="0" err="1"/>
              <a:t>p_account_no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r>
              <a:rPr lang="en-US" sz="1200" dirty="0"/>
              <a:t>    IF </a:t>
            </a:r>
            <a:r>
              <a:rPr lang="en-US" sz="1200" dirty="0" err="1"/>
              <a:t>v_balance</a:t>
            </a:r>
            <a:r>
              <a:rPr lang="en-US" sz="1200" dirty="0"/>
              <a:t> &gt;= </a:t>
            </a:r>
            <a:r>
              <a:rPr lang="en-US" sz="1200" dirty="0" err="1"/>
              <a:t>p_amount</a:t>
            </a:r>
            <a:r>
              <a:rPr lang="en-US" sz="1200" dirty="0"/>
              <a:t> THEN</a:t>
            </a:r>
          </a:p>
          <a:p>
            <a:pPr marL="0" indent="0">
              <a:buNone/>
            </a:pPr>
            <a:r>
              <a:rPr lang="en-US" sz="1200" dirty="0"/>
              <a:t>        UPDATE Account</a:t>
            </a:r>
          </a:p>
          <a:p>
            <a:pPr marL="0" indent="0">
              <a:buNone/>
            </a:pPr>
            <a:r>
              <a:rPr lang="en-US" sz="1200" dirty="0"/>
              <a:t>        SET Balance = Balance - </a:t>
            </a:r>
            <a:r>
              <a:rPr lang="en-US" sz="1200" dirty="0" err="1"/>
              <a:t>p_amount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        WHERE </a:t>
            </a:r>
            <a:r>
              <a:rPr lang="en-US" sz="1200" dirty="0" err="1"/>
              <a:t>Account_No</a:t>
            </a:r>
            <a:r>
              <a:rPr lang="en-US" sz="1200" dirty="0"/>
              <a:t> = </a:t>
            </a:r>
            <a:r>
              <a:rPr lang="en-US" sz="1200" dirty="0" err="1"/>
              <a:t>p_account_no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r>
              <a:rPr lang="en-US" sz="1200" dirty="0"/>
              <a:t>        DBMS_OUTPUT.PUT_LINE('Withdrawn ' || </a:t>
            </a:r>
            <a:r>
              <a:rPr lang="en-US" sz="1200" dirty="0" err="1"/>
              <a:t>p_amount</a:t>
            </a:r>
            <a:r>
              <a:rPr lang="en-US" sz="1200" dirty="0"/>
              <a:t> || ' from Account ' || </a:t>
            </a:r>
            <a:r>
              <a:rPr lang="en-US" sz="1200" dirty="0" err="1"/>
              <a:t>p_account_no</a:t>
            </a:r>
            <a:r>
              <a:rPr lang="en-US" sz="1200" dirty="0"/>
              <a:t>);</a:t>
            </a:r>
          </a:p>
          <a:p>
            <a:pPr marL="0" indent="0">
              <a:buNone/>
            </a:pPr>
            <a:r>
              <a:rPr lang="en-US" sz="1200" dirty="0"/>
              <a:t>    ELSE</a:t>
            </a:r>
          </a:p>
          <a:p>
            <a:pPr marL="0" indent="0">
              <a:buNone/>
            </a:pPr>
            <a:r>
              <a:rPr lang="en-US" sz="1200" dirty="0"/>
              <a:t>        DBMS_OUTPUT.PUT_LINE('Insufficient balance!');</a:t>
            </a:r>
          </a:p>
          <a:p>
            <a:pPr marL="0" indent="0">
              <a:buNone/>
            </a:pPr>
            <a:r>
              <a:rPr lang="en-US" sz="1200" dirty="0"/>
              <a:t>    END IF;</a:t>
            </a:r>
          </a:p>
          <a:p>
            <a:pPr marL="0" indent="0">
              <a:buNone/>
            </a:pPr>
            <a:r>
              <a:rPr lang="en-US" sz="1200" dirty="0"/>
              <a:t>END;</a:t>
            </a:r>
          </a:p>
          <a:p>
            <a:pPr marL="0" indent="0">
              <a:buNone/>
            </a:pPr>
            <a:r>
              <a:rPr lang="en-US" sz="1200" dirty="0"/>
              <a:t>/</a:t>
            </a:r>
          </a:p>
          <a:p>
            <a:pPr marL="0" indent="0">
              <a:buNone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324920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26BBD-9142-07CD-D8E9-61CD316B1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41961"/>
            <a:ext cx="8596668" cy="5599402"/>
          </a:xfrm>
        </p:spPr>
        <p:txBody>
          <a:bodyPr>
            <a:normAutofit fontScale="25000" lnSpcReduction="20000"/>
          </a:bodyPr>
          <a:lstStyle/>
          <a:p>
            <a:r>
              <a:rPr lang="en-US" sz="4800" b="1" dirty="0" err="1"/>
              <a:t>Get_balance</a:t>
            </a:r>
            <a:r>
              <a:rPr lang="en-US" sz="4800" b="1" dirty="0"/>
              <a:t> function </a:t>
            </a:r>
            <a:endParaRPr lang="en-IN" sz="4800" b="1" dirty="0"/>
          </a:p>
          <a:p>
            <a:pPr marL="0" indent="0">
              <a:buNone/>
            </a:pPr>
            <a:r>
              <a:rPr lang="en-US" sz="4800" dirty="0"/>
              <a:t> 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SET SERVEROUTPUT ON;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CREATE OR REPLACE FUNCTION </a:t>
            </a:r>
            <a:r>
              <a:rPr lang="en-US" sz="4800" dirty="0" err="1"/>
              <a:t>get_balance</a:t>
            </a:r>
            <a:r>
              <a:rPr lang="en-US" sz="4800" dirty="0"/>
              <a:t>(</a:t>
            </a:r>
            <a:r>
              <a:rPr lang="en-US" sz="4800" dirty="0" err="1"/>
              <a:t>p_account_no</a:t>
            </a:r>
            <a:r>
              <a:rPr lang="en-US" sz="4800" dirty="0"/>
              <a:t> IN NUMBER)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RETURN NUMBER IS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v_balance</a:t>
            </a:r>
            <a:r>
              <a:rPr lang="en-US" sz="4800" dirty="0"/>
              <a:t> NUMBER;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BEGIN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    SELECT Balance INTO </a:t>
            </a:r>
            <a:r>
              <a:rPr lang="en-US" sz="4800" dirty="0" err="1"/>
              <a:t>v_balance</a:t>
            </a:r>
            <a:r>
              <a:rPr lang="en-US" sz="4800" dirty="0"/>
              <a:t> FROM Account WHERE </a:t>
            </a:r>
            <a:r>
              <a:rPr lang="en-US" sz="4800" dirty="0" err="1"/>
              <a:t>Account_No</a:t>
            </a:r>
            <a:r>
              <a:rPr lang="en-US" sz="4800" dirty="0"/>
              <a:t> = </a:t>
            </a:r>
            <a:r>
              <a:rPr lang="en-US" sz="4800" dirty="0" err="1"/>
              <a:t>p_account_no</a:t>
            </a:r>
            <a:r>
              <a:rPr lang="en-US" sz="4800" dirty="0"/>
              <a:t>;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    RETURN </a:t>
            </a:r>
            <a:r>
              <a:rPr lang="en-US" sz="4800" dirty="0" err="1"/>
              <a:t>v_balance</a:t>
            </a:r>
            <a:r>
              <a:rPr lang="en-US" sz="4800" dirty="0"/>
              <a:t>;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END;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/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 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 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 </a:t>
            </a:r>
            <a:endParaRPr lang="en-IN" sz="4800" dirty="0"/>
          </a:p>
          <a:p>
            <a:r>
              <a:rPr lang="en-US" sz="4800" b="1" dirty="0"/>
              <a:t>4.calc_interest function (simple)</a:t>
            </a:r>
            <a:endParaRPr lang="en-IN" sz="4800" b="1" dirty="0"/>
          </a:p>
          <a:p>
            <a:pPr marL="0" indent="0">
              <a:buNone/>
            </a:pPr>
            <a:r>
              <a:rPr lang="en-US" sz="4800" b="1" dirty="0"/>
              <a:t> 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SET SERVEROUTPUT ON;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CREATE OR REPLACE FUNCTION </a:t>
            </a:r>
            <a:r>
              <a:rPr lang="en-US" sz="4800" dirty="0" err="1"/>
              <a:t>calc_interest</a:t>
            </a:r>
            <a:r>
              <a:rPr lang="en-US" sz="4800" dirty="0"/>
              <a:t>(</a:t>
            </a:r>
            <a:r>
              <a:rPr lang="en-US" sz="4800" dirty="0" err="1"/>
              <a:t>p_amount</a:t>
            </a:r>
            <a:r>
              <a:rPr lang="en-US" sz="4800" dirty="0"/>
              <a:t> NUMBER)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RETURN NUMBER IS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BEGIN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    RETURN </a:t>
            </a:r>
            <a:r>
              <a:rPr lang="en-US" sz="4800" dirty="0" err="1"/>
              <a:t>p_amount</a:t>
            </a:r>
            <a:r>
              <a:rPr lang="en-US" sz="4800" dirty="0"/>
              <a:t> * 0.05; -- 5% interest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END;</a:t>
            </a:r>
            <a:endParaRPr lang="en-IN" sz="4800" dirty="0"/>
          </a:p>
          <a:p>
            <a:pPr marL="0" indent="0">
              <a:buNone/>
            </a:pPr>
            <a:r>
              <a:rPr lang="en-US" sz="4800" dirty="0"/>
              <a:t>/</a:t>
            </a:r>
            <a:endParaRPr lang="en-IN" sz="4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495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84998-5C9E-7483-1DC5-1EE14BCA4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59081"/>
            <a:ext cx="8596668" cy="5782282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/>
              <a:t> </a:t>
            </a:r>
            <a:endParaRPr lang="en-IN" sz="1200" dirty="0"/>
          </a:p>
          <a:p>
            <a:r>
              <a:rPr lang="en-US" sz="1200" dirty="0"/>
              <a:t> </a:t>
            </a:r>
            <a:r>
              <a:rPr lang="en-US" sz="1200" b="1" dirty="0"/>
              <a:t>Account number BEFORE INSERT trigger (uses </a:t>
            </a:r>
            <a:r>
              <a:rPr lang="en-US" sz="1200" b="1" dirty="0" err="1"/>
              <a:t>seq_account</a:t>
            </a:r>
            <a:r>
              <a:rPr lang="en-US" sz="1200" b="1" dirty="0"/>
              <a:t>)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 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SET SERVEROUTPUT ON;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CREATE OR REPLACE TRIGGER </a:t>
            </a:r>
            <a:r>
              <a:rPr lang="en-US" sz="1200" dirty="0" err="1"/>
              <a:t>trg_account_no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BEFORE INSERT ON Account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FOR EACH ROW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    WHEN (</a:t>
            </a:r>
            <a:r>
              <a:rPr lang="en-US" sz="1200" dirty="0" err="1"/>
              <a:t>NEW.Account_No</a:t>
            </a:r>
            <a:r>
              <a:rPr lang="en-US" sz="1200" dirty="0"/>
              <a:t> IS NULL)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BEGIN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    SELECT </a:t>
            </a:r>
            <a:r>
              <a:rPr lang="en-US" sz="1200" dirty="0" err="1"/>
              <a:t>seq_account.NEXTVAL</a:t>
            </a:r>
            <a:r>
              <a:rPr lang="en-US" sz="1200" dirty="0"/>
              <a:t> INTO :</a:t>
            </a:r>
            <a:r>
              <a:rPr lang="en-US" sz="1200" dirty="0" err="1"/>
              <a:t>NEW.Account_No</a:t>
            </a:r>
            <a:r>
              <a:rPr lang="en-US" sz="1200" dirty="0"/>
              <a:t> FROM dual;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END;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/</a:t>
            </a:r>
            <a:endParaRPr lang="en-IN" sz="12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0106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E4D9F-2B7E-3C34-C769-0EC384D77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8601"/>
            <a:ext cx="8596668" cy="5812762"/>
          </a:xfrm>
        </p:spPr>
        <p:txBody>
          <a:bodyPr>
            <a:normAutofit fontScale="32500" lnSpcReduction="20000"/>
          </a:bodyPr>
          <a:lstStyle/>
          <a:p>
            <a:r>
              <a:rPr lang="en-US" sz="3700" b="1" dirty="0"/>
              <a:t>AFTER UPDATE trigger to log transactions and audit </a:t>
            </a:r>
          </a:p>
          <a:p>
            <a:pPr marL="0" indent="0">
              <a:buNone/>
            </a:pPr>
            <a:endParaRPr lang="en-IN" sz="3700" dirty="0"/>
          </a:p>
          <a:p>
            <a:pPr marL="0" indent="0">
              <a:buNone/>
            </a:pPr>
            <a:r>
              <a:rPr lang="en-US" sz="3700" dirty="0"/>
              <a:t>SET SERVEROUTPUT ON;</a:t>
            </a:r>
            <a:endParaRPr lang="en-IN" sz="3700" dirty="0"/>
          </a:p>
          <a:p>
            <a:pPr marL="0" indent="0">
              <a:buNone/>
            </a:pPr>
            <a:r>
              <a:rPr lang="en-US" sz="3700" dirty="0"/>
              <a:t>CREATE OR REPLACE TRIGGER </a:t>
            </a:r>
            <a:r>
              <a:rPr lang="en-US" sz="3700" dirty="0" err="1"/>
              <a:t>trg_transaction_log</a:t>
            </a:r>
            <a:endParaRPr lang="en-IN" sz="3700" dirty="0"/>
          </a:p>
          <a:p>
            <a:pPr marL="0" indent="0">
              <a:buNone/>
            </a:pPr>
            <a:r>
              <a:rPr lang="en-US" sz="3700" dirty="0"/>
              <a:t>AFTER UPDATE OF Balance ON Account</a:t>
            </a:r>
            <a:endParaRPr lang="en-IN" sz="3700" dirty="0"/>
          </a:p>
          <a:p>
            <a:pPr marL="0" indent="0">
              <a:buNone/>
            </a:pPr>
            <a:r>
              <a:rPr lang="en-US" sz="3700" dirty="0"/>
              <a:t>FOR EACH ROW</a:t>
            </a:r>
            <a:endParaRPr lang="en-IN" sz="3700" dirty="0"/>
          </a:p>
          <a:p>
            <a:pPr marL="0" indent="0">
              <a:buNone/>
            </a:pPr>
            <a:r>
              <a:rPr lang="en-US" sz="3700" dirty="0"/>
              <a:t>DECLARE</a:t>
            </a:r>
            <a:endParaRPr lang="en-IN" sz="3700" dirty="0"/>
          </a:p>
          <a:p>
            <a:pPr marL="0" indent="0">
              <a:buNone/>
            </a:pPr>
            <a:r>
              <a:rPr lang="en-US" sz="3700" dirty="0"/>
              <a:t>    </a:t>
            </a:r>
            <a:r>
              <a:rPr lang="en-US" sz="3700" dirty="0" err="1"/>
              <a:t>v_type</a:t>
            </a:r>
            <a:r>
              <a:rPr lang="en-US" sz="3700" dirty="0"/>
              <a:t> VARCHAR2(10);</a:t>
            </a:r>
            <a:endParaRPr lang="en-IN" sz="3700" dirty="0"/>
          </a:p>
          <a:p>
            <a:pPr marL="0" indent="0">
              <a:buNone/>
            </a:pPr>
            <a:r>
              <a:rPr lang="en-US" sz="3700" dirty="0"/>
              <a:t>    </a:t>
            </a:r>
            <a:r>
              <a:rPr lang="en-US" sz="3700" dirty="0" err="1"/>
              <a:t>v_amount</a:t>
            </a:r>
            <a:r>
              <a:rPr lang="en-US" sz="3700" dirty="0"/>
              <a:t> NUMBER;</a:t>
            </a:r>
            <a:endParaRPr lang="en-IN" sz="3700" dirty="0"/>
          </a:p>
          <a:p>
            <a:pPr marL="0" indent="0">
              <a:buNone/>
            </a:pPr>
            <a:r>
              <a:rPr lang="en-US" sz="3700" dirty="0"/>
              <a:t>    </a:t>
            </a:r>
            <a:r>
              <a:rPr lang="en-US" sz="3700" dirty="0" err="1"/>
              <a:t>v_trans_id</a:t>
            </a:r>
            <a:r>
              <a:rPr lang="en-US" sz="3700" dirty="0"/>
              <a:t> NUMBER;</a:t>
            </a:r>
            <a:endParaRPr lang="en-IN" sz="3700" dirty="0"/>
          </a:p>
          <a:p>
            <a:pPr marL="0" indent="0">
              <a:buNone/>
            </a:pPr>
            <a:r>
              <a:rPr lang="en-US" sz="3700" dirty="0"/>
              <a:t>BEGIN</a:t>
            </a:r>
            <a:endParaRPr lang="en-IN" sz="3700" dirty="0"/>
          </a:p>
          <a:p>
            <a:pPr marL="0" indent="0">
              <a:buNone/>
            </a:pPr>
            <a:r>
              <a:rPr lang="en-US" sz="3700" dirty="0"/>
              <a:t>    </a:t>
            </a:r>
            <a:r>
              <a:rPr lang="en-US" sz="3700" dirty="0" err="1"/>
              <a:t>v_amount</a:t>
            </a:r>
            <a:r>
              <a:rPr lang="en-US" sz="3700" dirty="0"/>
              <a:t> := NVL(:NEW.Balance,0) - NVL(:OLD.Balance,0);</a:t>
            </a:r>
            <a:endParaRPr lang="en-IN" sz="3700" dirty="0"/>
          </a:p>
          <a:p>
            <a:pPr marL="0" indent="0">
              <a:buNone/>
            </a:pPr>
            <a:r>
              <a:rPr lang="en-US" sz="3700" dirty="0"/>
              <a:t>    IF </a:t>
            </a:r>
            <a:r>
              <a:rPr lang="en-US" sz="3700" dirty="0" err="1"/>
              <a:t>v_amount</a:t>
            </a:r>
            <a:r>
              <a:rPr lang="en-US" sz="3700" dirty="0"/>
              <a:t> = 0 THEN</a:t>
            </a:r>
            <a:endParaRPr lang="en-IN" sz="3700" dirty="0"/>
          </a:p>
          <a:p>
            <a:pPr marL="0" indent="0">
              <a:buNone/>
            </a:pPr>
            <a:r>
              <a:rPr lang="en-US" sz="3700" dirty="0"/>
              <a:t>        RETURN; -- nothing changed</a:t>
            </a:r>
            <a:endParaRPr lang="en-IN" sz="3700" dirty="0"/>
          </a:p>
          <a:p>
            <a:pPr marL="0" indent="0">
              <a:buNone/>
            </a:pPr>
            <a:r>
              <a:rPr lang="en-US" sz="3700" dirty="0"/>
              <a:t>    ELSIF </a:t>
            </a:r>
            <a:r>
              <a:rPr lang="en-US" sz="3700" dirty="0" err="1"/>
              <a:t>v_amount</a:t>
            </a:r>
            <a:r>
              <a:rPr lang="en-US" sz="3700" dirty="0"/>
              <a:t> &gt; 0 THEN</a:t>
            </a:r>
            <a:endParaRPr lang="en-IN" sz="3700" dirty="0"/>
          </a:p>
          <a:p>
            <a:pPr marL="0" indent="0">
              <a:buNone/>
            </a:pPr>
            <a:r>
              <a:rPr lang="en-US" sz="3700" dirty="0"/>
              <a:t>        </a:t>
            </a:r>
            <a:r>
              <a:rPr lang="en-US" sz="3700" dirty="0" err="1"/>
              <a:t>v_type</a:t>
            </a:r>
            <a:r>
              <a:rPr lang="en-US" sz="3700" dirty="0"/>
              <a:t> := 'Deposit';</a:t>
            </a:r>
            <a:endParaRPr lang="en-IN" sz="3700" dirty="0"/>
          </a:p>
          <a:p>
            <a:pPr marL="0" indent="0">
              <a:buNone/>
            </a:pPr>
            <a:r>
              <a:rPr lang="en-US" sz="3700" dirty="0"/>
              <a:t>    ELSE</a:t>
            </a:r>
            <a:endParaRPr lang="en-IN" sz="3700" dirty="0"/>
          </a:p>
          <a:p>
            <a:pPr marL="0" indent="0">
              <a:buNone/>
            </a:pPr>
            <a:r>
              <a:rPr lang="en-US" sz="3700" dirty="0"/>
              <a:t>        </a:t>
            </a:r>
            <a:r>
              <a:rPr lang="en-US" sz="3700" dirty="0" err="1"/>
              <a:t>v_type</a:t>
            </a:r>
            <a:r>
              <a:rPr lang="en-US" sz="3700" dirty="0"/>
              <a:t> := 'Withdraw';</a:t>
            </a:r>
            <a:endParaRPr lang="en-IN" sz="3700" dirty="0"/>
          </a:p>
          <a:p>
            <a:pPr marL="0" indent="0">
              <a:buNone/>
            </a:pPr>
            <a:r>
              <a:rPr lang="en-US" sz="3700" dirty="0"/>
              <a:t>        </a:t>
            </a:r>
            <a:r>
              <a:rPr lang="en-US" sz="3700" dirty="0" err="1"/>
              <a:t>v_amount</a:t>
            </a:r>
            <a:r>
              <a:rPr lang="en-US" sz="3700" dirty="0"/>
              <a:t> := ABS(</a:t>
            </a:r>
            <a:r>
              <a:rPr lang="en-US" sz="3700" dirty="0" err="1"/>
              <a:t>v_amount</a:t>
            </a:r>
            <a:r>
              <a:rPr lang="en-US" sz="3700" dirty="0"/>
              <a:t>);</a:t>
            </a:r>
            <a:endParaRPr lang="en-IN" sz="3700" dirty="0"/>
          </a:p>
          <a:p>
            <a:pPr marL="0" indent="0">
              <a:buNone/>
            </a:pPr>
            <a:r>
              <a:rPr lang="en-US" sz="3700" dirty="0"/>
              <a:t>    END IF;</a:t>
            </a:r>
            <a:endParaRPr lang="en-IN" sz="3700" dirty="0"/>
          </a:p>
          <a:p>
            <a:endParaRPr lang="en-IN" sz="4400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4179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BA02C-C714-4E27-6003-8D786C37F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161"/>
            <a:ext cx="8596668" cy="59042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 </a:t>
            </a:r>
            <a:r>
              <a:rPr lang="en-US" sz="1400" b="1" dirty="0"/>
              <a:t>insert into Transactions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dirty="0" err="1"/>
              <a:t>v_trans_id</a:t>
            </a:r>
            <a:r>
              <a:rPr lang="en-US" sz="1400" dirty="0"/>
              <a:t> := </a:t>
            </a:r>
            <a:r>
              <a:rPr lang="en-US" sz="1400" dirty="0" err="1"/>
              <a:t>seq_trans.NEXTVAL</a:t>
            </a:r>
            <a:r>
              <a:rPr lang="en-US" sz="1400" dirty="0"/>
              <a:t>;</a:t>
            </a:r>
            <a:endParaRPr lang="en-IN" sz="1400" dirty="0"/>
          </a:p>
          <a:p>
            <a:pPr marL="0" indent="0">
              <a:buNone/>
            </a:pPr>
            <a:r>
              <a:rPr lang="en-US" sz="1400" dirty="0"/>
              <a:t>    INSERT INTO Transactions(</a:t>
            </a:r>
            <a:r>
              <a:rPr lang="en-US" sz="1400" dirty="0" err="1"/>
              <a:t>Trans_ID</a:t>
            </a:r>
            <a:r>
              <a:rPr lang="en-US" sz="1400" dirty="0"/>
              <a:t>, </a:t>
            </a:r>
            <a:r>
              <a:rPr lang="en-US" sz="1400" dirty="0" err="1"/>
              <a:t>Account_No</a:t>
            </a:r>
            <a:r>
              <a:rPr lang="en-US" sz="1400" dirty="0"/>
              <a:t>, </a:t>
            </a:r>
            <a:r>
              <a:rPr lang="en-US" sz="1400" dirty="0" err="1"/>
              <a:t>Trans_Type</a:t>
            </a:r>
            <a:r>
              <a:rPr lang="en-US" sz="1400" dirty="0"/>
              <a:t>, Amount, </a:t>
            </a:r>
            <a:r>
              <a:rPr lang="en-US" sz="1400" dirty="0" err="1"/>
              <a:t>Trans_Date</a:t>
            </a:r>
            <a:r>
              <a:rPr lang="en-US" sz="1400" dirty="0"/>
              <a:t>)</a:t>
            </a:r>
            <a:endParaRPr lang="en-IN" sz="1400" dirty="0"/>
          </a:p>
          <a:p>
            <a:pPr marL="0" indent="0">
              <a:buNone/>
            </a:pPr>
            <a:r>
              <a:rPr lang="en-US" sz="1400" dirty="0"/>
              <a:t>    VALUES (</a:t>
            </a:r>
            <a:r>
              <a:rPr lang="en-US" sz="1400" dirty="0" err="1"/>
              <a:t>v_trans_id</a:t>
            </a:r>
            <a:r>
              <a:rPr lang="en-US" sz="1400" dirty="0"/>
              <a:t>, :</a:t>
            </a:r>
            <a:r>
              <a:rPr lang="en-US" sz="1400" dirty="0" err="1"/>
              <a:t>NEW.Account_No</a:t>
            </a:r>
            <a:r>
              <a:rPr lang="en-US" sz="1400" dirty="0"/>
              <a:t>, </a:t>
            </a:r>
            <a:r>
              <a:rPr lang="en-US" sz="1400" dirty="0" err="1"/>
              <a:t>v_type</a:t>
            </a:r>
            <a:r>
              <a:rPr lang="en-US" sz="1400" dirty="0"/>
              <a:t>, </a:t>
            </a:r>
            <a:r>
              <a:rPr lang="en-US" sz="1400" dirty="0" err="1"/>
              <a:t>v_amount</a:t>
            </a:r>
            <a:r>
              <a:rPr lang="en-US" sz="1400" dirty="0"/>
              <a:t>, SYSDATE);</a:t>
            </a:r>
            <a:endParaRPr lang="en-IN" sz="1400" dirty="0"/>
          </a:p>
          <a:p>
            <a:pPr marL="0" indent="0">
              <a:buNone/>
            </a:pPr>
            <a:r>
              <a:rPr lang="en-US" sz="1400" dirty="0"/>
              <a:t> </a:t>
            </a:r>
            <a:endParaRPr lang="en-IN" sz="1400" dirty="0"/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b="1" dirty="0"/>
              <a:t>insert into audit table</a:t>
            </a:r>
            <a:endParaRPr lang="en-IN" sz="1400" dirty="0"/>
          </a:p>
          <a:p>
            <a:pPr marL="0" indent="0">
              <a:buNone/>
            </a:pPr>
            <a:r>
              <a:rPr lang="en-US" sz="1400" dirty="0"/>
              <a:t>    INSERT INTO </a:t>
            </a:r>
            <a:r>
              <a:rPr lang="en-US" sz="1400" dirty="0" err="1"/>
              <a:t>Transaction_Audit</a:t>
            </a:r>
            <a:r>
              <a:rPr lang="en-US" sz="1400" dirty="0"/>
              <a:t>(</a:t>
            </a:r>
            <a:r>
              <a:rPr lang="en-US" sz="1400" dirty="0" err="1"/>
              <a:t>Audit_ID</a:t>
            </a:r>
            <a:r>
              <a:rPr lang="en-US" sz="1400" dirty="0"/>
              <a:t>, </a:t>
            </a:r>
            <a:r>
              <a:rPr lang="en-US" sz="1400" dirty="0" err="1"/>
              <a:t>Trans_ID</a:t>
            </a:r>
            <a:r>
              <a:rPr lang="en-US" sz="1400" dirty="0"/>
              <a:t>, </a:t>
            </a:r>
            <a:r>
              <a:rPr lang="en-US" sz="1400" dirty="0" err="1"/>
              <a:t>Account_No</a:t>
            </a:r>
            <a:r>
              <a:rPr lang="en-US" sz="1400" dirty="0"/>
              <a:t>, Action, </a:t>
            </a:r>
            <a:r>
              <a:rPr lang="en-US" sz="1400" dirty="0" err="1"/>
              <a:t>Old_Balance</a:t>
            </a:r>
            <a:r>
              <a:rPr lang="en-US" sz="1400" dirty="0"/>
              <a:t>, </a:t>
            </a:r>
            <a:r>
              <a:rPr lang="en-US" sz="1400" dirty="0" err="1"/>
              <a:t>New_Balance</a:t>
            </a:r>
            <a:r>
              <a:rPr lang="en-US" sz="1400" dirty="0"/>
              <a:t>, </a:t>
            </a:r>
            <a:r>
              <a:rPr lang="en-US" sz="1400" dirty="0" err="1"/>
              <a:t>Action_Date</a:t>
            </a:r>
            <a:r>
              <a:rPr lang="en-US" sz="1400" dirty="0"/>
              <a:t>)</a:t>
            </a:r>
            <a:endParaRPr lang="en-IN" sz="1400" dirty="0"/>
          </a:p>
          <a:p>
            <a:pPr marL="0" indent="0">
              <a:buNone/>
            </a:pPr>
            <a:r>
              <a:rPr lang="en-US" sz="1400" dirty="0"/>
              <a:t>    VALUES (</a:t>
            </a:r>
            <a:r>
              <a:rPr lang="en-US" sz="1400" dirty="0" err="1"/>
              <a:t>seq_audit.NEXTVAL</a:t>
            </a:r>
            <a:r>
              <a:rPr lang="en-US" sz="1400" dirty="0"/>
              <a:t>, </a:t>
            </a:r>
            <a:r>
              <a:rPr lang="en-US" sz="1400" dirty="0" err="1"/>
              <a:t>v_trans_id</a:t>
            </a:r>
            <a:r>
              <a:rPr lang="en-US" sz="1400" dirty="0"/>
              <a:t>, :</a:t>
            </a:r>
            <a:r>
              <a:rPr lang="en-US" sz="1400" dirty="0" err="1"/>
              <a:t>NEW.Account_No</a:t>
            </a:r>
            <a:r>
              <a:rPr lang="en-US" sz="1400" dirty="0"/>
              <a:t>, </a:t>
            </a:r>
            <a:r>
              <a:rPr lang="en-US" sz="1400" dirty="0" err="1"/>
              <a:t>v_type</a:t>
            </a:r>
            <a:r>
              <a:rPr lang="en-US" sz="1400" dirty="0"/>
              <a:t>, :</a:t>
            </a:r>
            <a:r>
              <a:rPr lang="en-US" sz="1400" dirty="0" err="1"/>
              <a:t>OLD.Balance</a:t>
            </a:r>
            <a:r>
              <a:rPr lang="en-US" sz="1400" dirty="0"/>
              <a:t>, :</a:t>
            </a:r>
            <a:r>
              <a:rPr lang="en-US" sz="1400" dirty="0" err="1"/>
              <a:t>NEW.Balance</a:t>
            </a:r>
            <a:r>
              <a:rPr lang="en-US" sz="1400" dirty="0"/>
              <a:t>, SYSDATE);</a:t>
            </a:r>
            <a:endParaRPr lang="en-IN" sz="1400" dirty="0"/>
          </a:p>
          <a:p>
            <a:pPr marL="0" indent="0">
              <a:buNone/>
            </a:pPr>
            <a:r>
              <a:rPr lang="en-US" sz="1400" dirty="0"/>
              <a:t>END;</a:t>
            </a:r>
            <a:endParaRPr lang="en-IN" sz="1400" dirty="0"/>
          </a:p>
          <a:p>
            <a:pPr marL="0" indent="0">
              <a:buNone/>
            </a:pPr>
            <a:r>
              <a:rPr lang="en-US" sz="1400" dirty="0"/>
              <a:t>/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087407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435AD-D0AD-01F5-7EE7-ADF5ACB7E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01053"/>
            <a:ext cx="8596668" cy="5640309"/>
          </a:xfrm>
        </p:spPr>
        <p:txBody>
          <a:bodyPr/>
          <a:lstStyle/>
          <a:p>
            <a:r>
              <a:rPr lang="en-US" sz="1200" b="1" dirty="0"/>
              <a:t>Exception handling sample (use an account that exists or not) 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SET SERVEROUTPUT ON;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DECLARE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v_balance</a:t>
            </a:r>
            <a:r>
              <a:rPr lang="en-US" sz="1200" dirty="0"/>
              <a:t> NUMBER;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BEGIN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    SELECT Balance INTO </a:t>
            </a:r>
            <a:r>
              <a:rPr lang="en-US" sz="1200" dirty="0" err="1"/>
              <a:t>v_balance</a:t>
            </a:r>
            <a:r>
              <a:rPr lang="en-US" sz="1200" dirty="0"/>
              <a:t> FROM Account WHERE </a:t>
            </a:r>
            <a:r>
              <a:rPr lang="en-US" sz="1200" dirty="0" err="1"/>
              <a:t>Account_No</a:t>
            </a:r>
            <a:r>
              <a:rPr lang="en-US" sz="1200" dirty="0"/>
              <a:t> = 9999; -- no data expected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    DBMS_OUTPUT.PUT_LINE('Balance: ' || </a:t>
            </a:r>
            <a:r>
              <a:rPr lang="en-US" sz="1200" dirty="0" err="1"/>
              <a:t>v_balance</a:t>
            </a:r>
            <a:r>
              <a:rPr lang="en-US" sz="1200" dirty="0"/>
              <a:t>);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EXCEPTION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    WHEN NO_DATA_FOUND THEN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        DBMS_OUTPUT.PUT_LINE('Account not found!');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END;</a:t>
            </a:r>
            <a:endParaRPr lang="en-IN" sz="1200" dirty="0"/>
          </a:p>
          <a:p>
            <a:pPr marL="0" indent="0">
              <a:buNone/>
            </a:pPr>
            <a:r>
              <a:rPr lang="en-US" sz="1200" dirty="0"/>
              <a:t>/</a:t>
            </a:r>
            <a:endParaRPr lang="en-IN" sz="1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329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D16D3-1981-BF92-D865-CD9CA674F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9FCCA-61AB-7C8F-D814-0CA7F1082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Ensuring data integrity across interrelated tables with complex constraints.</a:t>
            </a:r>
            <a:endParaRPr lang="en-IN" dirty="0"/>
          </a:p>
          <a:p>
            <a:pPr lvl="0"/>
            <a:r>
              <a:rPr lang="en-US" dirty="0"/>
              <a:t>Automating banking operations without causing data inconsistencies.</a:t>
            </a:r>
            <a:endParaRPr lang="en-IN" dirty="0"/>
          </a:p>
          <a:p>
            <a:pPr lvl="0"/>
            <a:r>
              <a:rPr lang="en-US" dirty="0"/>
              <a:t>Maintaining transaction accuracy, especially during withdrawals and transfers.</a:t>
            </a:r>
            <a:endParaRPr lang="en-IN" dirty="0"/>
          </a:p>
          <a:p>
            <a:pPr lvl="0"/>
            <a:r>
              <a:rPr lang="en-US" dirty="0"/>
              <a:t>Optimizing performance with large datasets using indexes and structured queries.</a:t>
            </a:r>
            <a:endParaRPr lang="en-IN" dirty="0"/>
          </a:p>
          <a:p>
            <a:r>
              <a:rPr lang="en-US" dirty="0"/>
              <a:t>Ensuring PL/SQL triggers do not create recursion or unintended side effects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9336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4FF5-A2B7-233E-2DD1-A528277F4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16C0B-98ED-E9BE-B058-06215792D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The Bank Management System demonstrates strong practical understanding of SQL and PL/SQL in real-world scenarios.</a:t>
            </a:r>
            <a:endParaRPr lang="en-IN" dirty="0"/>
          </a:p>
          <a:p>
            <a:pPr lvl="0"/>
            <a:r>
              <a:rPr lang="en-US" dirty="0"/>
              <a:t>It covers the complete workflow from designing tables, defining relationships, creating constraints, and writing SQL queries.</a:t>
            </a:r>
            <a:endParaRPr lang="en-IN" dirty="0"/>
          </a:p>
          <a:p>
            <a:pPr lvl="0"/>
            <a:r>
              <a:rPr lang="en-US" dirty="0"/>
              <a:t>PL/SQL adds automation, ensures data consistency, and introduces modular programming through packages and triggers.</a:t>
            </a:r>
            <a:endParaRPr lang="en-IN" dirty="0"/>
          </a:p>
          <a:p>
            <a:r>
              <a:rPr lang="en-US" dirty="0"/>
              <a:t>Overall, the project strengthens database skills </a:t>
            </a:r>
            <a:r>
              <a:rPr lang="en-US"/>
              <a:t>and for </a:t>
            </a:r>
            <a:r>
              <a:rPr lang="en-US" dirty="0"/>
              <a:t>real banking and financial database 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459814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80</TotalTime>
  <Words>1428</Words>
  <Application>Microsoft Office PowerPoint</Application>
  <PresentationFormat>Widescreen</PresentationFormat>
  <Paragraphs>164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Bank Management System </vt:lpstr>
      <vt:lpstr>Introduction</vt:lpstr>
      <vt:lpstr>Requirement Analysis</vt:lpstr>
      <vt:lpstr>ER Model Overview</vt:lpstr>
      <vt:lpstr> Key Database Tables </vt:lpstr>
      <vt:lpstr> SQL Features Used</vt:lpstr>
      <vt:lpstr>PL/SQL Components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Challenges</vt:lpstr>
      <vt:lpstr>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 vora</dc:creator>
  <cp:lastModifiedBy>Raj Vadaviya</cp:lastModifiedBy>
  <cp:revision>17</cp:revision>
  <dcterms:created xsi:type="dcterms:W3CDTF">2025-11-17T12:55:03Z</dcterms:created>
  <dcterms:modified xsi:type="dcterms:W3CDTF">2025-11-18T04:50:19Z</dcterms:modified>
</cp:coreProperties>
</file>